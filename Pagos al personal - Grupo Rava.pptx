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87746C"/>
          </a:solidFill>
          <a:ln w="12700">
            <a:solidFill>
              <a:srgbClr val="87746C"/>
            </a:solidFill>
            <a:prstDash val="solid"/>
          </a:ln>
        </p:spPr>
      </p:sp>
      <p:pic>
        <p:nvPicPr>
          <p:cNvPr id="3" name="Image 0" descr="rava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3017520" cy="3771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760720"/>
            <a:ext cx="1188720" cy="38404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5760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1920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COLABORADORES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233172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personal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4206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C0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Sueldos, licencias, adelantos y préstamos: cuándo se pagan y cómo solicitarlos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572000" y="5669280"/>
            <a:ext cx="6858000" cy="0"/>
          </a:xfrm>
          <a:prstGeom prst="line">
            <a:avLst/>
          </a:prstGeom>
          <a:noFill/>
          <a:ln w="12700">
            <a:solidFill>
              <a:srgbClr val="6A5A5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5806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Montevideo, septiembre de 2026  ·  Todas las empresas del grupo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FECHAS DE PAGO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 en un vistazo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son las fechas en las que se realizan los pagos cada mes.</a:t>
            </a:r>
            <a:endParaRPr lang="en-US" sz="1600" dirty="0"/>
          </a:p>
        </p:txBody>
      </p:sp>
      <p:pic>
        <p:nvPicPr>
          <p:cNvPr id="6" name="Image 0" descr="rava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382512"/>
            <a:ext cx="164592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Rava · Recursos Humanos · Pagos al personal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777240" cy="77724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43150"/>
            <a:ext cx="388620" cy="3886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2148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554480" y="25328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depositan antes del 5.º día hábil del mes.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777240" cy="77724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62331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54480" y="34290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 jueves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554480" y="38130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Adelantos y préstamos de sueldo, adelantos de aguinaldo y primera fecha de pago de licencias.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709160"/>
            <a:ext cx="777240" cy="777240"/>
          </a:xfrm>
          <a:prstGeom prst="ellipse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903470"/>
            <a:ext cx="388620" cy="3886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709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Cuarto jueves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1554480" y="50932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fecha de pago de licencias.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6263640" y="187452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653796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OCTUBRE 2026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6537960" y="2423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7214616" y="2423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7891272" y="2423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567928" y="2423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9244584" y="2423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921240" y="2423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0597896" y="2423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567928" y="28072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DCD1CB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567928" y="28072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9244584" y="28072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DCD1CB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244584" y="28072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9921240" y="28072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921240" y="28072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10597896" y="28072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10597896" y="28072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6537960" y="32644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DCD1CB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537960" y="32644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7214616" y="32644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DCD1CB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214616" y="32644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7891272" y="32644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891272" y="32644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8567928" y="32644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567928" y="32644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9244584" y="32644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244584" y="32644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Shape 41"/>
          <p:cNvSpPr/>
          <p:nvPr/>
        </p:nvSpPr>
        <p:spPr>
          <a:xfrm>
            <a:off x="9921240" y="32644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9921240" y="32644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9" name="Shape 43"/>
          <p:cNvSpPr/>
          <p:nvPr/>
        </p:nvSpPr>
        <p:spPr>
          <a:xfrm>
            <a:off x="10597896" y="32644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10597896" y="32644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51" name="Shape 45"/>
          <p:cNvSpPr/>
          <p:nvPr/>
        </p:nvSpPr>
        <p:spPr>
          <a:xfrm>
            <a:off x="6537960" y="37216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6537960" y="37216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3" name="Shape 47"/>
          <p:cNvSpPr/>
          <p:nvPr/>
        </p:nvSpPr>
        <p:spPr>
          <a:xfrm>
            <a:off x="7214616" y="37216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7214616" y="37216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55" name="Shape 49"/>
          <p:cNvSpPr/>
          <p:nvPr/>
        </p:nvSpPr>
        <p:spPr>
          <a:xfrm>
            <a:off x="7891272" y="37216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5E9DE"/>
          </a:solidFill>
          <a:ln w="19050">
            <a:solidFill>
              <a:srgbClr val="A0622A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7891272" y="37216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57" name="Shape 51"/>
          <p:cNvSpPr/>
          <p:nvPr/>
        </p:nvSpPr>
        <p:spPr>
          <a:xfrm>
            <a:off x="8567928" y="37216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403230"/>
          </a:solidFill>
          <a:ln w="9525">
            <a:solidFill>
              <a:srgbClr val="403230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8567928" y="37216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9" name="Shape 53"/>
          <p:cNvSpPr/>
          <p:nvPr/>
        </p:nvSpPr>
        <p:spPr>
          <a:xfrm>
            <a:off x="9244584" y="37216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9244584" y="37216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61" name="Shape 55"/>
          <p:cNvSpPr/>
          <p:nvPr/>
        </p:nvSpPr>
        <p:spPr>
          <a:xfrm>
            <a:off x="9921240" y="37216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9921240" y="37216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63" name="Shape 57"/>
          <p:cNvSpPr/>
          <p:nvPr/>
        </p:nvSpPr>
        <p:spPr>
          <a:xfrm>
            <a:off x="10597896" y="37216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10597896" y="37216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65" name="Shape 59"/>
          <p:cNvSpPr/>
          <p:nvPr/>
        </p:nvSpPr>
        <p:spPr>
          <a:xfrm>
            <a:off x="6537960" y="41788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6537960" y="41788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67" name="Shape 61"/>
          <p:cNvSpPr/>
          <p:nvPr/>
        </p:nvSpPr>
        <p:spPr>
          <a:xfrm>
            <a:off x="7214616" y="41788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7214616" y="41788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69" name="Shape 63"/>
          <p:cNvSpPr/>
          <p:nvPr/>
        </p:nvSpPr>
        <p:spPr>
          <a:xfrm>
            <a:off x="7891272" y="41788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7891272" y="41788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71" name="Shape 65"/>
          <p:cNvSpPr/>
          <p:nvPr/>
        </p:nvSpPr>
        <p:spPr>
          <a:xfrm>
            <a:off x="8567928" y="41788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A0622A"/>
          </a:solidFill>
          <a:ln w="9525">
            <a:solidFill>
              <a:srgbClr val="A0622A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8567928" y="41788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73" name="Shape 67"/>
          <p:cNvSpPr/>
          <p:nvPr/>
        </p:nvSpPr>
        <p:spPr>
          <a:xfrm>
            <a:off x="9244584" y="41788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9244584" y="41788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75" name="Shape 69"/>
          <p:cNvSpPr/>
          <p:nvPr/>
        </p:nvSpPr>
        <p:spPr>
          <a:xfrm>
            <a:off x="9921240" y="41788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76" name="Text 70"/>
          <p:cNvSpPr txBox="1"/>
          <p:nvPr/>
        </p:nvSpPr>
        <p:spPr>
          <a:xfrm>
            <a:off x="9921240" y="41788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77" name="Shape 71"/>
          <p:cNvSpPr/>
          <p:nvPr/>
        </p:nvSpPr>
        <p:spPr>
          <a:xfrm>
            <a:off x="10597896" y="41788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78" name="Text 72"/>
          <p:cNvSpPr txBox="1"/>
          <p:nvPr/>
        </p:nvSpPr>
        <p:spPr>
          <a:xfrm>
            <a:off x="10597896" y="41788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79" name="Shape 73"/>
          <p:cNvSpPr/>
          <p:nvPr/>
        </p:nvSpPr>
        <p:spPr>
          <a:xfrm>
            <a:off x="6537960" y="46360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6537960" y="46360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81" name="Shape 75"/>
          <p:cNvSpPr/>
          <p:nvPr/>
        </p:nvSpPr>
        <p:spPr>
          <a:xfrm>
            <a:off x="7214616" y="46360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82" name="Text 76"/>
          <p:cNvSpPr txBox="1"/>
          <p:nvPr/>
        </p:nvSpPr>
        <p:spPr>
          <a:xfrm>
            <a:off x="7214616" y="46360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300" dirty="0"/>
          </a:p>
        </p:txBody>
      </p:sp>
      <p:sp>
        <p:nvSpPr>
          <p:cNvPr id="83" name="Shape 77"/>
          <p:cNvSpPr/>
          <p:nvPr/>
        </p:nvSpPr>
        <p:spPr>
          <a:xfrm>
            <a:off x="7891272" y="46360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7891272" y="46360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85" name="Shape 79"/>
          <p:cNvSpPr/>
          <p:nvPr/>
        </p:nvSpPr>
        <p:spPr>
          <a:xfrm>
            <a:off x="8567928" y="46360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86" name="Text 80"/>
          <p:cNvSpPr txBox="1"/>
          <p:nvPr/>
        </p:nvSpPr>
        <p:spPr>
          <a:xfrm>
            <a:off x="8567928" y="46360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300" dirty="0"/>
          </a:p>
        </p:txBody>
      </p:sp>
      <p:sp>
        <p:nvSpPr>
          <p:cNvPr id="87" name="Shape 81"/>
          <p:cNvSpPr/>
          <p:nvPr/>
        </p:nvSpPr>
        <p:spPr>
          <a:xfrm>
            <a:off x="9244584" y="46360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88" name="Text 82"/>
          <p:cNvSpPr txBox="1"/>
          <p:nvPr/>
        </p:nvSpPr>
        <p:spPr>
          <a:xfrm>
            <a:off x="9244584" y="46360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89" name="Shape 83"/>
          <p:cNvSpPr/>
          <p:nvPr/>
        </p:nvSpPr>
        <p:spPr>
          <a:xfrm>
            <a:off x="9921240" y="4636008"/>
            <a:ext cx="603504" cy="384048"/>
          </a:xfrm>
          <a:prstGeom prst="roundRect">
            <a:avLst>
              <a:gd name="adj" fmla="val 14286"/>
            </a:avLst>
          </a:prstGeom>
          <a:solidFill>
            <a:srgbClr val="F0EBE8"/>
          </a:solidFill>
          <a:ln w="9525">
            <a:solidFill>
              <a:srgbClr val="E3DAD5"/>
            </a:solidFill>
            <a:prstDash val="solid"/>
          </a:ln>
        </p:spPr>
      </p:sp>
      <p:sp>
        <p:nvSpPr>
          <p:cNvPr id="90" name="Text 84"/>
          <p:cNvSpPr txBox="1"/>
          <p:nvPr/>
        </p:nvSpPr>
        <p:spPr>
          <a:xfrm>
            <a:off x="9921240" y="4636008"/>
            <a:ext cx="603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A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91" name="Shape 85"/>
          <p:cNvSpPr/>
          <p:nvPr/>
        </p:nvSpPr>
        <p:spPr>
          <a:xfrm>
            <a:off x="6537960" y="53126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DCD1CB"/>
          </a:solidFill>
          <a:ln w="12700">
            <a:solidFill>
              <a:srgbClr val="E3DAD5"/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6830568" y="52578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5.º día hábil: sueldos</a:t>
            </a:r>
            <a:endParaRPr lang="en-US" sz="1050" dirty="0"/>
          </a:p>
        </p:txBody>
      </p:sp>
      <p:sp>
        <p:nvSpPr>
          <p:cNvPr id="93" name="Shape 87"/>
          <p:cNvSpPr/>
          <p:nvPr/>
        </p:nvSpPr>
        <p:spPr>
          <a:xfrm>
            <a:off x="9144000" y="531266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E9DE"/>
          </a:solidFill>
          <a:ln w="12700">
            <a:solidFill>
              <a:srgbClr val="A0622A"/>
            </a:solidFill>
            <a:prstDash val="solid"/>
          </a:ln>
        </p:spPr>
      </p:sp>
      <p:sp>
        <p:nvSpPr>
          <p:cNvPr id="94" name="Text 88"/>
          <p:cNvSpPr txBox="1"/>
          <p:nvPr/>
        </p:nvSpPr>
        <p:spPr>
          <a:xfrm>
            <a:off x="9436608" y="52578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14: cierre de solicitudes</a:t>
            </a:r>
            <a:endParaRPr lang="en-US" sz="1050" dirty="0"/>
          </a:p>
        </p:txBody>
      </p:sp>
      <p:sp>
        <p:nvSpPr>
          <p:cNvPr id="95" name="Shape 89"/>
          <p:cNvSpPr/>
          <p:nvPr/>
        </p:nvSpPr>
        <p:spPr>
          <a:xfrm>
            <a:off x="6537960" y="567842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96" name="Text 90"/>
          <p:cNvSpPr txBox="1"/>
          <p:nvPr/>
        </p:nvSpPr>
        <p:spPr>
          <a:xfrm>
            <a:off x="6830568" y="56235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 15: tercer jueves</a:t>
            </a:r>
            <a:endParaRPr lang="en-US" sz="1050" dirty="0"/>
          </a:p>
        </p:txBody>
      </p:sp>
      <p:sp>
        <p:nvSpPr>
          <p:cNvPr id="97" name="Shape 91"/>
          <p:cNvSpPr/>
          <p:nvPr/>
        </p:nvSpPr>
        <p:spPr>
          <a:xfrm>
            <a:off x="9144000" y="567842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</p:sp>
      <p:sp>
        <p:nvSpPr>
          <p:cNvPr id="98" name="Text 92"/>
          <p:cNvSpPr txBox="1"/>
          <p:nvPr/>
        </p:nvSpPr>
        <p:spPr>
          <a:xfrm>
            <a:off x="9436608" y="56235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 22: cuarto jueves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ADELANTOS Y PRÉSTAMOS DE SUELDO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¿Adelanto o préstamo?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pedir un monto a cuenta del sueldo. El nombre depende de cómo se descuenta.</a:t>
            </a:r>
            <a:endParaRPr lang="en-US" sz="1600" dirty="0"/>
          </a:p>
        </p:txBody>
      </p:sp>
      <p:pic>
        <p:nvPicPr>
          <p:cNvPr id="6" name="Image 0" descr="rava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382512"/>
            <a:ext cx="164592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Rava · Recursos Humanos · Pagos al personal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2423160"/>
            <a:ext cx="777240" cy="77724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261747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74520" y="2441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1874520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descuenta en una sola cuota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14400" y="38404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1440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14400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completo se descuenta en el recibo de sueldo del mes siguiente al depósito.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914400" y="516636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EDE7E3"/>
          </a:solidFill>
          <a:ln w="19050">
            <a:solidFill>
              <a:srgbClr val="EDE7E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078992" y="516636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máximo: </a:t>
            </a:r>
            <a:pPr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el 40 % del sueldo. Para jornaleros, el 40 % se calcula sobre el promedio de los últimos tres meses.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91072" y="2057400"/>
            <a:ext cx="53492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56832" y="2423160"/>
            <a:ext cx="777240" cy="77724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142" y="2617470"/>
            <a:ext cx="388620" cy="3886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616952" y="2441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7616952" y="2834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descuenta en varias cuotas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656832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656832" y="38404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656832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223760" y="38404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7223760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7790688" y="38404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790688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8357616" y="38404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357616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924544" y="38404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924544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9491472" y="384048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491472" y="3840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10058400" y="38404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hasta 12</a:t>
            </a:r>
            <a:endParaRPr lang="en-US" sz="1400" dirty="0"/>
          </a:p>
        </p:txBody>
      </p:sp>
      <p:sp>
        <p:nvSpPr>
          <p:cNvPr id="38" name="Text 33"/>
          <p:cNvSpPr txBox="1"/>
          <p:nvPr/>
        </p:nvSpPr>
        <p:spPr>
          <a:xfrm>
            <a:off x="6656832" y="4572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cuotas se descuentan a partir del mes siguiente al depósito, hasta completar el número acordado.</a:t>
            </a:r>
            <a:endParaRPr lang="en-US" sz="1500" dirty="0"/>
          </a:p>
        </p:txBody>
      </p:sp>
      <p:sp>
        <p:nvSpPr>
          <p:cNvPr id="39" name="Shape 34"/>
          <p:cNvSpPr/>
          <p:nvPr/>
        </p:nvSpPr>
        <p:spPr>
          <a:xfrm>
            <a:off x="6656832" y="5166360"/>
            <a:ext cx="4617720" cy="411480"/>
          </a:xfrm>
          <a:prstGeom prst="roundRect">
            <a:avLst>
              <a:gd name="adj" fmla="val 17778"/>
            </a:avLst>
          </a:prstGeom>
          <a:solidFill>
            <a:srgbClr val="EDE7E3"/>
          </a:solidFill>
          <a:ln w="19050">
            <a:solidFill>
              <a:srgbClr val="EDE7E3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6821424" y="516636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máximo: </a:t>
            </a:r>
            <a:pPr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sueldo nominal (promedio, para jornaleros)</a:t>
            </a:r>
            <a:endParaRPr lang="en-US" sz="1300" dirty="0"/>
          </a:p>
        </p:txBody>
      </p:sp>
      <p:sp>
        <p:nvSpPr>
          <p:cNvPr id="41" name="Shape 36"/>
          <p:cNvSpPr/>
          <p:nvPr/>
        </p:nvSpPr>
        <p:spPr>
          <a:xfrm>
            <a:off x="6656832" y="5669280"/>
            <a:ext cx="4617720" cy="411480"/>
          </a:xfrm>
          <a:prstGeom prst="roundRect">
            <a:avLst>
              <a:gd name="adj" fmla="val 17778"/>
            </a:avLst>
          </a:prstGeom>
          <a:solidFill>
            <a:srgbClr val="F5E9DE"/>
          </a:solidFill>
          <a:ln w="19050">
            <a:solidFill>
              <a:srgbClr val="A0622A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6821424" y="56692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Requisito: </a:t>
            </a:r>
            <a:pPr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al menos un año de antigüedad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AGUINALDO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 de aguinaldo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pedir un adelanto a cuenta del próximo aguinaldo.</a:t>
            </a:r>
            <a:endParaRPr lang="en-US" sz="1600" dirty="0"/>
          </a:p>
        </p:txBody>
      </p:sp>
      <p:pic>
        <p:nvPicPr>
          <p:cNvPr id="6" name="Image 0" descr="rava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382512"/>
            <a:ext cx="164592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Rava · Recursos Humanos · Pagos al personal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423160"/>
            <a:ext cx="731520" cy="73152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06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" y="3291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pide el adelanto dentro del plazo (hasta el miércoles previo al tercer jueves).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3246120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43400" y="21488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2423160"/>
            <a:ext cx="731520" cy="73152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060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63440" y="3291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Depósito</a:t>
            </a:r>
            <a:endParaRPr lang="en-US" sz="1900" dirty="0"/>
          </a:p>
        </p:txBody>
      </p:sp>
      <p:sp>
        <p:nvSpPr>
          <p:cNvPr id="18" name="Text 12"/>
          <p:cNvSpPr txBox="1"/>
          <p:nvPr/>
        </p:nvSpPr>
        <p:spPr>
          <a:xfrm>
            <a:off x="4663440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deposita el tercer jueves del mes.</a:t>
            </a:r>
            <a:endParaRPr lang="en-US" sz="14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3246120"/>
            <a:ext cx="237744" cy="237744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138160" y="214884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458200" y="2423160"/>
            <a:ext cx="731520" cy="73152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260604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458200" y="3291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Descuento</a:t>
            </a:r>
            <a:endParaRPr lang="en-US" sz="1900" dirty="0"/>
          </a:p>
        </p:txBody>
      </p:sp>
      <p:sp>
        <p:nvSpPr>
          <p:cNvPr id="24" name="Text 16"/>
          <p:cNvSpPr txBox="1"/>
          <p:nvPr/>
        </p:nvSpPr>
        <p:spPr>
          <a:xfrm>
            <a:off x="8458200" y="3703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descuenta en una sola vez del aguinaldo, en el mes en que corresponde cobrarlo.</a:t>
            </a:r>
            <a:endParaRPr lang="en-US" sz="1450" dirty="0"/>
          </a:p>
        </p:txBody>
      </p:sp>
      <p:sp>
        <p:nvSpPr>
          <p:cNvPr id="25" name="Shape 17"/>
          <p:cNvSpPr/>
          <p:nvPr/>
        </p:nvSpPr>
        <p:spPr>
          <a:xfrm>
            <a:off x="548640" y="5029200"/>
            <a:ext cx="6583680" cy="685800"/>
          </a:xfrm>
          <a:prstGeom prst="roundRect">
            <a:avLst>
              <a:gd name="adj" fmla="val 13333"/>
            </a:avLst>
          </a:prstGeom>
          <a:solidFill>
            <a:srgbClr val="F5E9DE"/>
          </a:solidFill>
          <a:ln w="19050">
            <a:solidFill>
              <a:srgbClr val="A0622A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175504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325880" y="50292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préstamos de aguinaldo (en cuotas).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03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7746C"/>
          </a:solidFill>
          <a:ln w="12700">
            <a:solidFill>
              <a:srgbClr val="87746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CONDICIÓN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84648" y="1188720"/>
            <a:ext cx="1828800" cy="182880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645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461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préstamo a la vez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4114800"/>
            <a:ext cx="8531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D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tener un préstamo y pedir además un adelanto. Lo que no se permite es tener dos préstamos de sueldo al mismo tiempo.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5212080"/>
            <a:ext cx="8531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0B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se está descontando un préstamo, un nuevo pedido se rechaza hasta terminar de pagar el primero.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PLAZOS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depositan los adelantos y préstamos?</a:t>
            </a:r>
            <a:endParaRPr lang="en-US" sz="3600" dirty="0"/>
          </a:p>
        </p:txBody>
      </p:sp>
      <p:pic>
        <p:nvPicPr>
          <p:cNvPr id="5" name="Image 0" descr="rava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382512"/>
            <a:ext cx="164592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Rava · Recursos Humanos · Pagos al personal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TERCERA SEMANA DEL MES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801368" y="20116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01368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054096" y="20116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5E9DE"/>
          </a:solidFill>
          <a:ln w="25400">
            <a:solidFill>
              <a:srgbClr val="A062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54096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054096" y="27889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06824" y="20116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06824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306824" y="27889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559552" y="201168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59552" y="21945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3794760"/>
            <a:ext cx="731520" cy="73152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4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5087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 de pago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50876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depositan el tercer jueves de cada mes.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48640" y="4892040"/>
            <a:ext cx="731520" cy="731520"/>
          </a:xfrm>
          <a:prstGeom prst="ellipse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7492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508760" y="4892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para solicitar</a:t>
            </a:r>
            <a:endParaRPr lang="en-US" sz="180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257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reciben solicitudes hasta el miércoles previo al jueves de pago.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6766560" y="1600200"/>
            <a:ext cx="4873752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132320" y="1965960"/>
            <a:ext cx="731520" cy="731520"/>
          </a:xfrm>
          <a:prstGeom prst="ellipse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48840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046720" y="2011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plazo</a:t>
            </a:r>
            <a:endParaRPr lang="en-US" sz="2000" dirty="0"/>
          </a:p>
        </p:txBody>
      </p:sp>
      <p:sp>
        <p:nvSpPr>
          <p:cNvPr id="32" name="Text 26"/>
          <p:cNvSpPr txBox="1"/>
          <p:nvPr/>
        </p:nvSpPr>
        <p:spPr>
          <a:xfrm>
            <a:off x="7132320" y="28803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solicitudes recibidas después del miércoles de cierre serán rechazadas.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7132320" y="3840480"/>
            <a:ext cx="4160520" cy="0"/>
          </a:xfrm>
          <a:prstGeom prst="line">
            <a:avLst/>
          </a:prstGeom>
          <a:noFill/>
          <a:ln w="12700">
            <a:solidFill>
              <a:srgbClr val="E3DAD5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13232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· OCTUBRE 2026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7132320" y="43891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solicitudes: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miércoles 14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jueves 15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LICENCIAS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solicita la licencia?</a:t>
            </a:r>
            <a:endParaRPr lang="en-US" sz="3600" dirty="0"/>
          </a:p>
        </p:txBody>
      </p:sp>
      <p:pic>
        <p:nvPicPr>
          <p:cNvPr id="5" name="Image 0" descr="rava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382512"/>
            <a:ext cx="164592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Rava · Recursos Humanos · Pagos al personal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011680" cy="201168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1460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17520" y="20116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licencia debe solicitarse con anticipación, a través de </a:t>
            </a:r>
            <a:pPr indent="0" marL="0">
              <a:buNone/>
            </a:pPr>
            <a:r>
              <a:rPr lang="en-US" sz="2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pPr indent="0" marL="0">
              <a:buNone/>
            </a:pPr>
            <a:r>
              <a:rPr lang="en-US" sz="2600" b="1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3017520" y="30175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fecha en que se hace la solicitud define cuándo se paga la licencia. Cuanto antes se pida, más cerca del inicio de la licencia se recibe el pago.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3017520" y="40690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DE7E3"/>
          </a:solidFill>
          <a:ln w="19050">
            <a:solidFill>
              <a:srgbClr val="EDE7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182112" y="4069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dos fechas de pago de licencias: </a:t>
            </a:r>
            <a:pPr indent="0" marL="0">
              <a:buNone/>
            </a:pPr>
            <a:r>
              <a:rPr lang="en-US" sz="13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tercer jueves y el cuarto jueves de cada mes.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017520" y="4846320"/>
            <a:ext cx="5669280" cy="685800"/>
          </a:xfrm>
          <a:prstGeom prst="roundRect">
            <a:avLst>
              <a:gd name="adj" fmla="val 13333"/>
            </a:avLst>
          </a:prstGeom>
          <a:solidFill>
            <a:srgbClr val="F5E9DE"/>
          </a:solidFill>
          <a:ln w="19050">
            <a:solidFill>
              <a:srgbClr val="A0622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94690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840480" y="48463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existen adelantos de licencia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LICENCIAS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paga la licencia?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con cuánta anticipación se haga la solicitud.</a:t>
            </a:r>
            <a:endParaRPr lang="en-US" sz="1600" dirty="0"/>
          </a:p>
        </p:txBody>
      </p:sp>
      <p:pic>
        <p:nvPicPr>
          <p:cNvPr id="6" name="Image 0" descr="rava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382512"/>
            <a:ext cx="164592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Rava · Recursos Humanos · Pagos al personal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2331720"/>
            <a:ext cx="10515600" cy="0"/>
          </a:xfrm>
          <a:prstGeom prst="line">
            <a:avLst/>
          </a:prstGeom>
          <a:noFill/>
          <a:ln w="38100">
            <a:solidFill>
              <a:srgbClr val="E3DA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240280"/>
            <a:ext cx="182880" cy="182880"/>
          </a:xfrm>
          <a:prstGeom prst="ellipse">
            <a:avLst/>
          </a:prstGeom>
          <a:solidFill>
            <a:srgbClr val="E3DAD5"/>
          </a:solidFill>
          <a:ln w="12700">
            <a:solidFill>
              <a:srgbClr val="E3DAD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mes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30952" y="2176272"/>
            <a:ext cx="310896" cy="310896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3.er jueves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348472" y="2176272"/>
            <a:ext cx="310896" cy="310896"/>
          </a:xfrm>
          <a:prstGeom prst="ellipse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2560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4.º jueves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945368" y="2212848"/>
            <a:ext cx="237744" cy="237744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8408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3.er jueves del mes siguiente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01752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291840"/>
            <a:ext cx="73152" cy="2514600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" y="3291840"/>
            <a:ext cx="594360" cy="59436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440430"/>
            <a:ext cx="297180" cy="2971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600200" y="3410712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EDE7E3"/>
          </a:solidFill>
          <a:ln w="12700">
            <a:solidFill>
              <a:srgbClr val="EDE7E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600200" y="341071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22960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anticipación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4846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deposita en la fecha de pago (tercer o cuarto jueves) más cercana al inicio de la licencia.</a:t>
            </a:r>
            <a:endParaRPr lang="en-US" sz="1350" dirty="0"/>
          </a:p>
        </p:txBody>
      </p:sp>
      <p:sp>
        <p:nvSpPr>
          <p:cNvPr id="25" name="Shape 21"/>
          <p:cNvSpPr/>
          <p:nvPr/>
        </p:nvSpPr>
        <p:spPr>
          <a:xfrm>
            <a:off x="3355848" y="301752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355848" y="3291840"/>
            <a:ext cx="73152" cy="2514600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630168" y="3291840"/>
            <a:ext cx="594360" cy="59436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758" y="3440430"/>
            <a:ext cx="297180" cy="29718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3630168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día para el otro, antes del tercer jueves</a:t>
            </a:r>
            <a:endParaRPr lang="en-US" sz="1550" dirty="0"/>
          </a:p>
        </p:txBody>
      </p:sp>
      <p:sp>
        <p:nvSpPr>
          <p:cNvPr id="30" name="Text 25"/>
          <p:cNvSpPr txBox="1"/>
          <p:nvPr/>
        </p:nvSpPr>
        <p:spPr>
          <a:xfrm>
            <a:off x="3630168" y="4846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deposita recién el tercer jueves, aunque falten varios días.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6163056" y="301752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163056" y="3291840"/>
            <a:ext cx="73152" cy="2514600"/>
          </a:xfrm>
          <a:prstGeom prst="rect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437376" y="3291840"/>
            <a:ext cx="594360" cy="594360"/>
          </a:xfrm>
          <a:prstGeom prst="ellipse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966" y="3440430"/>
            <a:ext cx="297180" cy="29718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437376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día para el otro, después del tercer jueves</a:t>
            </a:r>
            <a:endParaRPr lang="en-US" sz="1550" dirty="0"/>
          </a:p>
        </p:txBody>
      </p:sp>
      <p:sp>
        <p:nvSpPr>
          <p:cNvPr id="36" name="Text 30"/>
          <p:cNvSpPr txBox="1"/>
          <p:nvPr/>
        </p:nvSpPr>
        <p:spPr>
          <a:xfrm>
            <a:off x="6437376" y="4846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pasó el pago del tercer jueves: se deposita el cuarto jueves.</a:t>
            </a:r>
            <a:endParaRPr lang="en-US" sz="1350" dirty="0"/>
          </a:p>
        </p:txBody>
      </p:sp>
      <p:sp>
        <p:nvSpPr>
          <p:cNvPr id="37" name="Shape 31"/>
          <p:cNvSpPr/>
          <p:nvPr/>
        </p:nvSpPr>
        <p:spPr>
          <a:xfrm>
            <a:off x="8970264" y="3017520"/>
            <a:ext cx="2624328" cy="306324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8970264" y="3291840"/>
            <a:ext cx="73152" cy="2514600"/>
          </a:xfrm>
          <a:prstGeom prst="rect">
            <a:avLst/>
          </a:prstGeom>
          <a:solidFill>
            <a:srgbClr val="87746C"/>
          </a:solidFill>
          <a:ln w="12700">
            <a:solidFill>
              <a:srgbClr val="87746C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244584" y="3291840"/>
            <a:ext cx="594360" cy="594360"/>
          </a:xfrm>
          <a:prstGeom prst="ellipse">
            <a:avLst/>
          </a:prstGeom>
          <a:solidFill>
            <a:srgbClr val="87746C"/>
          </a:solidFill>
          <a:ln w="12700">
            <a:solidFill>
              <a:srgbClr val="87746C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3174" y="3440430"/>
            <a:ext cx="297180" cy="297180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244584" y="40233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día para el otro, después del cuarto jueves</a:t>
            </a:r>
            <a:endParaRPr lang="en-US" sz="1550" dirty="0"/>
          </a:p>
        </p:txBody>
      </p:sp>
      <p:sp>
        <p:nvSpPr>
          <p:cNvPr id="42" name="Text 35"/>
          <p:cNvSpPr txBox="1"/>
          <p:nvPr/>
        </p:nvSpPr>
        <p:spPr>
          <a:xfrm>
            <a:off x="9244584" y="48463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pasaron ambos pagos del mes: se deposita el tercer jueves del mes siguiente.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LICENCIAS  ·  NUEVO A PARTIR DE 2027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formas de cobrar la licencia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2027, el pago de la licencia se podrá recibir de una de estas dos maneras.</a:t>
            </a:r>
            <a:endParaRPr lang="en-US" sz="1600" dirty="0"/>
          </a:p>
        </p:txBody>
      </p:sp>
      <p:pic>
        <p:nvPicPr>
          <p:cNvPr id="6" name="Image 0" descr="rava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382512"/>
            <a:ext cx="164592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Rava · Recursos Humanos · Pagos al personal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67665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2377440"/>
            <a:ext cx="731520" cy="73152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560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2670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dos partidas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868680" y="3474720"/>
            <a:ext cx="3026664" cy="502920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68496" y="3474720"/>
            <a:ext cx="3026664" cy="502920"/>
          </a:xfrm>
          <a:prstGeom prst="rect">
            <a:avLst/>
          </a:prstGeom>
          <a:solidFill>
            <a:srgbClr val="A0622A"/>
          </a:solidFill>
          <a:ln w="12700">
            <a:solidFill>
              <a:srgbClr val="A0622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68680" y="3474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1 a 10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34747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restantes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42062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1.ª partida: </a:t>
            </a:r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pagan los primeros 10 días cuando se solicita el primer día de licencia.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868680" y="493776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2.ª partida: </a:t>
            </a:r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solicitar el día 11, se pagan todos los días de licencia restantes.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589520" y="2103120"/>
            <a:ext cx="4050792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09560" y="2377440"/>
            <a:ext cx="731520" cy="731520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2560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696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869680" y="26700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junto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7909560" y="3474720"/>
            <a:ext cx="3410712" cy="502920"/>
          </a:xfrm>
          <a:prstGeom prst="rect">
            <a:avLst/>
          </a:prstGeom>
          <a:solidFill>
            <a:srgbClr val="87746C"/>
          </a:solidFill>
          <a:ln w="12700">
            <a:solidFill>
              <a:srgbClr val="87746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7909560" y="3474720"/>
            <a:ext cx="3410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días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7909560" y="420624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la licencia completa en una sola vez.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0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que recordar</a:t>
            </a:r>
            <a:endParaRPr lang="en-US" sz="3600" dirty="0"/>
          </a:p>
        </p:txBody>
      </p:sp>
      <p:pic>
        <p:nvPicPr>
          <p:cNvPr id="5" name="Image 0" descr="rava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382512"/>
            <a:ext cx="1645920" cy="2057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7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Rava · Recursos Humanos · Pagos al personal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215341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Sueldos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5.º día hábil del mes.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355848" y="17830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584448" y="2011680"/>
            <a:ext cx="566928" cy="566928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180" y="215341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584448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 = 1 cuota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3584448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el 40 % del sueldo. Se descuenta el mes siguiente.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163056" y="17830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91656" y="2011680"/>
            <a:ext cx="566928" cy="566928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388" y="215341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91656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 = cuotas</a:t>
            </a:r>
            <a:endParaRPr lang="en-US" sz="1550" dirty="0"/>
          </a:p>
        </p:txBody>
      </p:sp>
      <p:sp>
        <p:nvSpPr>
          <p:cNvPr id="21" name="Text 15"/>
          <p:cNvSpPr txBox="1"/>
          <p:nvPr/>
        </p:nvSpPr>
        <p:spPr>
          <a:xfrm>
            <a:off x="6391656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primer año. Hasta 12 cuotas, máx. un sueldo nominal.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970264" y="17830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198864" y="2011680"/>
            <a:ext cx="566928" cy="566928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0596" y="2153412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198864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Adelanto de aguinaldo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9198864" y="3017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descuenta del aguinaldo. Sin préstamos.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48640" y="38404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" y="4210812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7724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préstamo a la vez</a:t>
            </a:r>
            <a:endParaRPr lang="en-US" sz="1550" dirty="0"/>
          </a:p>
        </p:txBody>
      </p:sp>
      <p:sp>
        <p:nvSpPr>
          <p:cNvPr id="31" name="Text 23"/>
          <p:cNvSpPr txBox="1"/>
          <p:nvPr/>
        </p:nvSpPr>
        <p:spPr>
          <a:xfrm>
            <a:off x="777240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sumar un adelanto, pero no dos préstamos.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3355848" y="38404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3584448" y="4069080"/>
            <a:ext cx="566928" cy="566928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6180" y="4210812"/>
            <a:ext cx="283464" cy="28346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584448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Pago: 3.er jueves</a:t>
            </a:r>
            <a:endParaRPr lang="en-US" sz="1550" dirty="0"/>
          </a:p>
        </p:txBody>
      </p:sp>
      <p:sp>
        <p:nvSpPr>
          <p:cNvPr id="36" name="Text 27"/>
          <p:cNvSpPr txBox="1"/>
          <p:nvPr/>
        </p:nvSpPr>
        <p:spPr>
          <a:xfrm>
            <a:off x="3584448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hasta el miércoles previo.</a:t>
            </a:r>
            <a:endParaRPr lang="en-US" sz="1250" dirty="0"/>
          </a:p>
        </p:txBody>
      </p:sp>
      <p:sp>
        <p:nvSpPr>
          <p:cNvPr id="37" name="Shape 28"/>
          <p:cNvSpPr/>
          <p:nvPr/>
        </p:nvSpPr>
        <p:spPr>
          <a:xfrm>
            <a:off x="6163056" y="38404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391656" y="4069080"/>
            <a:ext cx="566928" cy="566928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3388" y="4210812"/>
            <a:ext cx="283464" cy="28346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391656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con anticipación</a:t>
            </a:r>
            <a:endParaRPr lang="en-US" sz="1550" dirty="0"/>
          </a:p>
        </p:txBody>
      </p:sp>
      <p:sp>
        <p:nvSpPr>
          <p:cNvPr id="41" name="Text 31"/>
          <p:cNvSpPr txBox="1"/>
          <p:nvPr/>
        </p:nvSpPr>
        <p:spPr>
          <a:xfrm>
            <a:off x="6391656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solicita por Human. No existen adelantos de licencia.</a:t>
            </a:r>
            <a:endParaRPr lang="en-US" sz="1250" dirty="0"/>
          </a:p>
        </p:txBody>
      </p:sp>
      <p:sp>
        <p:nvSpPr>
          <p:cNvPr id="42" name="Shape 32"/>
          <p:cNvSpPr/>
          <p:nvPr/>
        </p:nvSpPr>
        <p:spPr>
          <a:xfrm>
            <a:off x="8970264" y="384048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AD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9198864" y="4069080"/>
            <a:ext cx="566928" cy="566928"/>
          </a:xfrm>
          <a:prstGeom prst="ellipse">
            <a:avLst/>
          </a:prstGeom>
          <a:solidFill>
            <a:srgbClr val="403230"/>
          </a:solidFill>
          <a:ln w="12700">
            <a:solidFill>
              <a:srgbClr val="403230"/>
            </a:solidFill>
            <a:prstDash val="solid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0596" y="4210812"/>
            <a:ext cx="283464" cy="283464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198864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de licencia</a:t>
            </a:r>
            <a:endParaRPr lang="en-US" sz="1550" dirty="0"/>
          </a:p>
        </p:txBody>
      </p:sp>
      <p:sp>
        <p:nvSpPr>
          <p:cNvPr id="46" name="Text 35"/>
          <p:cNvSpPr txBox="1"/>
          <p:nvPr/>
        </p:nvSpPr>
        <p:spPr>
          <a:xfrm>
            <a:off x="9198864" y="5074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E2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3.er o 4.º jueves. Desde 2027: en dos partidas o de una vez.</a:t>
            </a:r>
            <a:endParaRPr lang="en-US" sz="1250" dirty="0"/>
          </a:p>
        </p:txBody>
      </p:sp>
      <p:sp>
        <p:nvSpPr>
          <p:cNvPr id="47" name="Text 36"/>
          <p:cNvSpPr txBox="1"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03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¿Consultas? Acercate a Recursos Humanos.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Pagos al personal</dc:title>
  <dc:subject>PptxGenJS Presentation</dc:subject>
  <dc:creator>PptxGenJS</dc:creator>
  <cp:lastModifiedBy>PptxGenJS</cp:lastModifiedBy>
  <cp:revision>1</cp:revision>
  <dcterms:created xsi:type="dcterms:W3CDTF">2026-09-24T12:14:58Z</dcterms:created>
  <dcterms:modified xsi:type="dcterms:W3CDTF">2026-09-24T12:14:58Z</dcterms:modified>
</cp:coreProperties>
</file>